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0.0\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EEAD4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Decision Tree</c:v>
                  </c:pt>
                  <c:pt idx="1">
                    <c:v>Gradient Boosting</c:v>
                  </c:pt>
                  <c:pt idx="2">
                    <c:v>Random Forest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95.7</c:v>
                </c:pt>
                <c:pt idx="1">
                  <c:v>88.5</c:v>
                </c:pt>
                <c:pt idx="2">
                  <c:v>98.3</c:v>
                </c:pt>
              </c:numCache>
            </c:numRef>
          </c:val>
        </c:ser>
        <c:dLbls>
          <c:numFmt formatCode="0.0\%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36576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PREDICTING ACADEMIC OUTCOMES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Machine Learning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Umair Abbasi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Saba Mahmood • Ali Daud • Saad Shakeel • Abdul Qadeer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University, Islamabad • Rabdan Academy, Abu Dhabi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4572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RESEARCH CHALLENGE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3931920" cy="1645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1097280"/>
            <a:ext cx="73152" cy="1645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28016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Education Gap</a:t>
            </a:r>
            <a:endParaRPr lang="en-US" sz="18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classrooms are being replaced by data-intensive Virtual Learning Environments, but understanding student success factors remains challenging.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754880" y="1097280"/>
            <a:ext cx="3931920" cy="1645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Shape 5"/>
          <p:cNvSpPr/>
          <p:nvPr/>
        </p:nvSpPr>
        <p:spPr>
          <a:xfrm>
            <a:off x="4754880" y="1097280"/>
            <a:ext cx="73152" cy="1645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6"/>
          <p:cNvSpPr/>
          <p:nvPr/>
        </p:nvSpPr>
        <p:spPr>
          <a:xfrm>
            <a:off x="4937760" y="128016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Intervention Need</a:t>
            </a:r>
            <a:endParaRPr lang="en-US" sz="18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at-risk students early enough to provide personalized support and prevent dropouts is crucial for online education success.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20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7472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352044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demographics, engagement metrics, and assessment data</a:t>
            </a:r>
            <a:endParaRPr lang="en-US" sz="15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93192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97280" y="397764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interpretable ML models for practical intervention</a:t>
            </a:r>
            <a:endParaRPr lang="en-US" sz="15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389120"/>
            <a:ext cx="320040" cy="3200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97280" y="443484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98.3% accuracy with Random Forest classifier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4572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DATASET &amp; METHODOLOGY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2286000" cy="1371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13716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32,593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457200" y="1920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Records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017520" y="128016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University Learning Analytics Dataset (OULAD)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3017520" y="1828800"/>
            <a:ext cx="5669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Demographics: </a:t>
            </a:r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band, prior education level, IMD band (socioeconomic status)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Data: </a:t>
            </a:r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VLE interactions (logins, resource access), assignment submissions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Measures: </a:t>
            </a:r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academic results (distinction, pass, withdrawal, fail)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MODELS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Shape 8"/>
          <p:cNvSpPr/>
          <p:nvPr/>
        </p:nvSpPr>
        <p:spPr>
          <a:xfrm>
            <a:off x="457200" y="3383280"/>
            <a:ext cx="73152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3429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Tree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017520" y="342900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 for clear rule-based insights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Shape 12"/>
          <p:cNvSpPr/>
          <p:nvPr/>
        </p:nvSpPr>
        <p:spPr>
          <a:xfrm>
            <a:off x="457200" y="3931920"/>
            <a:ext cx="73152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" y="3977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Boosting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017520" y="397764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imbalanced data via iterative error correction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Shape 16"/>
          <p:cNvSpPr/>
          <p:nvPr/>
        </p:nvSpPr>
        <p:spPr>
          <a:xfrm>
            <a:off x="457200" y="4480560"/>
            <a:ext cx="73152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" y="4526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3017520" y="452628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method mitigating overfitting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4572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PERFORMANCE RESULTS</a:t>
            </a:r>
            <a:endParaRPr lang="en-US" sz="3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50292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/>
          <p:nvPr/>
        </p:nvSpPr>
        <p:spPr>
          <a:xfrm>
            <a:off x="5760720" y="11887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METRICS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645920"/>
          <a:ext cx="2926080" cy="201168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731520"/>
                <a:gridCol w="7315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</a:tbl>
          </a:graphicData>
        </a:graphic>
      </p:graphicFrame>
      <p:sp>
        <p:nvSpPr>
          <p:cNvPr id="7" name="Text 2"/>
          <p:cNvSpPr/>
          <p:nvPr/>
        </p:nvSpPr>
        <p:spPr>
          <a:xfrm>
            <a:off x="5760720" y="38404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achieved the highest accuracy, making it the strongest model for predicting academic success in Virtual Learning Environments.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4572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PREDICTIVE FACTORS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analysis reveals the most influential factors in academic success: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57200" y="1554480"/>
            <a:ext cx="548640" cy="5486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1188720" y="16002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Education Level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88720" y="1847088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distinction rate for A-Level or above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377440"/>
            <a:ext cx="548640" cy="5486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1188720" y="24231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IMD Band (Socioeconomic)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88720" y="2670048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IMD (70-100%) show significantly better outcomes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3200400"/>
            <a:ext cx="548640" cy="5486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1188720" y="32461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Band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188720" y="3493008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0-35 years: 15% distinction; 55+: 50% withdrawal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4023360"/>
            <a:ext cx="548640" cy="5486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8" name="Text 15"/>
          <p:cNvSpPr/>
          <p:nvPr/>
        </p:nvSpPr>
        <p:spPr>
          <a:xfrm>
            <a:off x="457200" y="4023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1188720" y="40690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VLE Engagement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188720" y="4315968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frequency and resource access strongly correlate with success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50292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FINDINGS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371600"/>
            <a:ext cx="2743200" cy="2926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1371600"/>
            <a:ext cx="2743200" cy="548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5087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Educational Background Matters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21031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20%</a:t>
            </a:r>
            <a:endParaRPr lang="en-US" sz="5600" dirty="0"/>
          </a:p>
        </p:txBody>
      </p:sp>
      <p:sp>
        <p:nvSpPr>
          <p:cNvPr id="8" name="Text 5"/>
          <p:cNvSpPr/>
          <p:nvPr/>
        </p:nvSpPr>
        <p:spPr>
          <a:xfrm>
            <a:off x="640080" y="283464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with A-Level qualifications achieved distinction rates of 20%, compared to 50% withdrawal for those with no formal qualifications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83280" y="1371600"/>
            <a:ext cx="2743200" cy="2926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3383280" y="1371600"/>
            <a:ext cx="2743200" cy="548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8"/>
          <p:cNvSpPr/>
          <p:nvPr/>
        </p:nvSpPr>
        <p:spPr>
          <a:xfrm>
            <a:off x="3566160" y="15087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Socioeconomic Impact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566160" y="21031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45%</a:t>
            </a:r>
            <a:endParaRPr lang="en-US" sz="5600" dirty="0"/>
          </a:p>
        </p:txBody>
      </p:sp>
      <p:sp>
        <p:nvSpPr>
          <p:cNvPr id="13" name="Text 10"/>
          <p:cNvSpPr/>
          <p:nvPr/>
        </p:nvSpPr>
        <p:spPr>
          <a:xfrm>
            <a:off x="3566160" y="283464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from low IMD bands (0-30%) showed 45% withdrawal rates, highlighting systemic educational inequalities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309360" y="1371600"/>
            <a:ext cx="2743200" cy="2926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6309360" y="1371600"/>
            <a:ext cx="2743200" cy="548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3"/>
          <p:cNvSpPr/>
          <p:nvPr/>
        </p:nvSpPr>
        <p:spPr>
          <a:xfrm>
            <a:off x="6492240" y="15087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Age-Related Patterns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92240" y="21031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50%</a:t>
            </a:r>
            <a:endParaRPr lang="en-US" sz="5600" dirty="0"/>
          </a:p>
        </p:txBody>
      </p:sp>
      <p:sp>
        <p:nvSpPr>
          <p:cNvPr id="18" name="Text 15"/>
          <p:cNvSpPr/>
          <p:nvPr/>
        </p:nvSpPr>
        <p:spPr>
          <a:xfrm>
            <a:off x="6492240" y="283464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aged 55+ experienced 50% withdrawal rates, while younger students (0-35) showed 15% distinction rates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4572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IMPLICATIONS FOR EDUCATION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1188720"/>
            <a:ext cx="73152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325880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Warning Systems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160020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predictive analytics to identify at-risk students before they disengage, enabling timely intervention and support.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457200" y="2103120"/>
            <a:ext cx="73152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2240280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Learning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0080" y="251460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Customize academic programs based on prior education and socioeconomic background to improve engagement and retention.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3017520"/>
            <a:ext cx="8229600" cy="8229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" name="Shape 10"/>
          <p:cNvSpPr/>
          <p:nvPr/>
        </p:nvSpPr>
        <p:spPr>
          <a:xfrm>
            <a:off x="457200" y="3017520"/>
            <a:ext cx="73152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3154680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Support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40080" y="342900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additional resources, mentoring programs, and financial assistance to students from disadvantaged backgrounds.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4"/>
          <p:cNvSpPr/>
          <p:nvPr/>
        </p:nvSpPr>
        <p:spPr>
          <a:xfrm>
            <a:off x="457200" y="3931920"/>
            <a:ext cx="73152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4069080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Data-Driven Decisions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40080" y="434340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feature importance analysis to allocate resources efficiently and enhance student success rates.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4572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FUTURE RESEARCH DIRECTIONS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548640" y="128016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" y="1348740"/>
            <a:ext cx="228600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88720" y="132588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 Models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1188720" y="1572768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neural networks for enhanced prediction accuracy with larger datasets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548640" y="205740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" y="2125980"/>
            <a:ext cx="228600" cy="228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88720" y="210312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AI (XAI)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1188720" y="2350008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SHAP and LIME methods to improve model interpretability for educators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548640" y="283464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" y="2903220"/>
            <a:ext cx="228600" cy="228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88720" y="288036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Broader Dataset Integration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1188720" y="3127248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research across multiple universities and learning platforms for better generalizability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548640" y="361188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" y="3680460"/>
            <a:ext cx="228600" cy="2286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88720" y="365760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Intervention Systems</a:t>
            </a:r>
            <a:endParaRPr lang="en-US" sz="1600" dirty="0"/>
          </a:p>
        </p:txBody>
      </p:sp>
      <p:sp>
        <p:nvSpPr>
          <p:cNvPr id="19" name="Text 12"/>
          <p:cNvSpPr/>
          <p:nvPr/>
        </p:nvSpPr>
        <p:spPr>
          <a:xfrm>
            <a:off x="1188720" y="3904488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automated systems for immediate support to prevent student dropout or failure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06840" y="0"/>
            <a:ext cx="137160" cy="514350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1371600" y="2103120"/>
            <a:ext cx="6400800" cy="201168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828800" y="237744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research demonstrates that machine learning can effectively predict academic outcomes in Virtual Learning Environments with </a:t>
            </a:r>
            <a:pPr algn="ctr"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98.3% accuracy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using Random Forest classification.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combining demographics, engagement metrics, and assessment data, we provide educators with </a:t>
            </a:r>
            <a:pPr algn="ctr"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insights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early intervention, ultimately improving student retention and success in online education.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9006840" y="0"/>
            <a:ext cx="137160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Umair Abbasi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Umairaabbasi708@gmail.com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University, Islamabad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Academic Outcomes Using Machine Learning</dc:title>
  <dc:subject>PptxGenJS Presentation</dc:subject>
  <dc:creator>Umair Abbasi et al.</dc:creator>
  <cp:lastModifiedBy>Umair Abbasi et al.</cp:lastModifiedBy>
  <cp:revision>1</cp:revision>
  <dcterms:created xsi:type="dcterms:W3CDTF">2026-02-12T09:27:39Z</dcterms:created>
  <dcterms:modified xsi:type="dcterms:W3CDTF">2026-02-12T09:27:39Z</dcterms:modified>
</cp:coreProperties>
</file>